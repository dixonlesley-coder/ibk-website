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68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T .   I N D O B A N G U N   B E R J A Y A   K O N S T R U K S 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CONSTRUCTION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 On Time.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for Value.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Design-build and specialist MEP contractor for office towers, bank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headquarters, government facilities, hotels, data centres &amp; mixed-use — on budget, on schedule.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12700">
            <a:solidFill>
              <a:srgbClr val="D4B6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2015  ·  JAKARTA, INDONESIA  ·  IDR 300B+ DELIVERED  ·  20+ PROJECTS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O   W E   A R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589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Commercial Contractor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Value &amp; Schedule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2015, IBK has delivered over </a:t>
            </a:r>
            <a:r>
              <a:rPr lang="en-US" sz="1400" b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300 billion</a:t>
            </a: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commercial, institutional and critical-facility work as both specialist MEP subcontractor to Indonesia's largest main contractors — PT. PP (Persero), Pulauintan, APG — and as a direct design-build contractor for developers and owners.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7223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control the full delivery chain — structure, architecture, full MEP, and all material supply — with a single-minded focus on </a:t>
            </a:r>
            <a:r>
              <a:rPr lang="en-US" sz="1400" b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engineering, cost discipline, and on-schedule handover</a:t>
            </a: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design decision is tested against cost and programme — not just specification.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03920" y="1005840"/>
            <a:ext cx="1600200" cy="16002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1005840"/>
            <a:ext cx="1600200" cy="4572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0" y="1325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300B+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95360" y="20116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Value Delivered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241280" y="1005840"/>
            <a:ext cx="1600200" cy="16002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0" y="1005840"/>
            <a:ext cx="1600200" cy="4572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0" y="1325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332720" y="20116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03920" y="2743200"/>
            <a:ext cx="1600200" cy="16002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743200"/>
            <a:ext cx="1600200" cy="4572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30632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95360" y="3749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241280" y="2743200"/>
            <a:ext cx="1600200" cy="16002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0" y="2743200"/>
            <a:ext cx="1600200" cy="4572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30632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332720" y="3749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I B K   D I F F E R E N C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Commercial Clients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IBK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projects are judged on two numbers — what they cost to build and when they open. Every week of delay is lost revenue; every variation claim is margin erosion. IBK is engineered around those outcomes: tight budgets, firm programmes, and engineering that earns its keep.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2697480" cy="283464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566160"/>
            <a:ext cx="73152" cy="283464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Tier-1 Track Record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partner to PT. PP (Persero), Pulauintan, APG — rehired because we deliver on budget and on programme. BSI Tower, BNI PIK 2, Kejaksaan Agung, Hilton Bandung, 2× hyperscale data centres.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3566160"/>
            <a:ext cx="2697480" cy="283464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3566160"/>
            <a:ext cx="73152" cy="283464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Excellence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85032" y="43891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design review on every scope — structural, architectural and MEP optimised against cost and programme before procurement. Constructability challenged early, not on site.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2784" y="3566160"/>
            <a:ext cx="2697480" cy="283464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3566160"/>
            <a:ext cx="73152" cy="283464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Discipline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47104" y="43891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priced to win and deliver — not to absorb variations later. IDR 300B+ delivered with a reputation for tight cost control, honest BoQs, and minimal variation claims at handover.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34856" y="3566160"/>
            <a:ext cx="2697480" cy="283464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3566160"/>
            <a:ext cx="73152" cy="283464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09176" y="43891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leasing, opening and handover dates drive our programmes. Sequenced and resourced to hit the critical path — Hilton Bandung, Subang Factory and 2× data centres delivered on immovable commercial deadlines.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 P A B I L I T I E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Full-Scope Delivery or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 MEP Package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or one trade — we scale to the contract structure. Full design-build for developers and owners. Specialist MEP subcontract packages for Tier-1 main contractors.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703320" cy="1508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063240"/>
            <a:ext cx="54864" cy="15087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461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foundations and frames optimised for Jakarta's coastal soils and high-rise floor plates. Design tuned for cost efficiency and fast formwork cycles.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3063240"/>
            <a:ext cx="3703320" cy="1508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3063240"/>
            <a:ext cx="54864" cy="15087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32461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6576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design-build. Envelopes and interiors coordinated with structure and MEP from day one — cutting design conflicts, procurement rework and site delays.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3063240"/>
            <a:ext cx="3703320" cy="1508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3063240"/>
            <a:ext cx="54864" cy="15087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32461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Electrical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8200" y="36576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Load-matched distribution and panel systems, right-sized for actual commercial demand. Bulk procurement on Schneider, Chint, Kabelmetal — no over-spec, no over-spend.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3703320" cy="1508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709160"/>
            <a:ext cx="54864" cy="15087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920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Plumbing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53035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PPR and PVC systems with prefabricated risers that cut site time and keep first fix ahead of the ceiling programme. Leak-tested to commercial standards.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4709160"/>
            <a:ext cx="3703320" cy="1508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4709160"/>
            <a:ext cx="54864" cy="15087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8920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 Suppression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53035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sprinkler, hydrant, fire pump and detection — engineered to Indonesian code and international brand standards with tight commissioning timelines.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4709160"/>
            <a:ext cx="3703320" cy="1508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4709160"/>
            <a:ext cx="54864" cy="15087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48920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58200" y="53035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VRV and central chilled water systems right-sized to actual occupancy and operating hours — engineered to balance CAPEX and running cost without over-specification.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11109960" cy="274320"/>
          </a:xfrm>
          <a:prstGeom prst="rect">
            <a:avLst/>
          </a:prstGeom>
          <a:solidFill>
            <a:srgbClr val="0E2038"/>
          </a:solidFill>
          <a:ln w="12700">
            <a:solidFill>
              <a:srgbClr val="0E20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181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Building Systems: Unifi networking &amp; CCTV · BMS integration · Solar + battery with live dashboard · Access control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C109E15-A839-85AA-5E88-DBEC0E528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"/>
            <a:ext cx="327660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R U S T E D   B 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Repeat Subcontractor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Indonesia's Tier-1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Indonesia's largest main contractors need scope delivered on budget, on schedule, and to specification — on projects where cost overruns or delay are not an option — they call IBK.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11109960" cy="8229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611880"/>
            <a:ext cx="73152" cy="8229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PT. PP (Persero)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projects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37947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Tower · BNI PIK 2 · Kejaksaan Agung · TCD TMII · RS Rengasdengklok · Vasanta Innopark · Apt. Sudimara · HDC Hyperscale DC · KCBN Jambi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599432"/>
            <a:ext cx="11109960" cy="8229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599432"/>
            <a:ext cx="73152" cy="8229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36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PT. Pulauintan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02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projects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478231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SCBD Data Center &amp; Control Building · Meruya BPI Residence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586984"/>
            <a:ext cx="11109960" cy="8229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586984"/>
            <a:ext cx="73152" cy="8229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7241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APG Consortium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60899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project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576986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HDC Hyperscale Data Center Cikarang (joint delivery with PT. PP)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M M E R C I A L   P O R T F O L I 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300B+ Across Commercial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Critical-Facility Projects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51460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Hilton Bandung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43.3B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98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— Fire, Electrical, HVAC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172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Layana Buana Hotelindo  ·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61688" y="251460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51460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606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HDC Hyperscale DC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84848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40B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44568" y="2898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— Mechanical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44568" y="3172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/ APG  ·  2021–2022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74736" y="251460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251460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606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Vasanta Innopark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97896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36B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57616" y="2898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— Plumbing, Sprinkler, HVAC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57616" y="3172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(Persero)  ·  2019–2021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56188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56188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653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SCBD Data Center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71800" y="365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35.5B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945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— Mechanical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42202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Pulauintan  ·  2021–2022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61688" y="356188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1688" y="356188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44568" y="3653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Apt. Sudimara Foreswalk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84848" y="365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24B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44568" y="3945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— Full MEP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44568" y="42202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(Persero)  ·  2021–2022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74736" y="356188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4736" y="356188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57616" y="36533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BSI Tower Jakarta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97896" y="365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14.5B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57616" y="39459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Tower — Plumbing, Fire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57616" y="42202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(Persero)  ·  2024–2025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60916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460916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700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Rengasdengklok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71800" y="4700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13.9B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" y="4993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— Plumbing, Fire, Electrical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1520" y="5267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(Persero)  ·  2024–2025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61688" y="460916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61688" y="460916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44568" y="4700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Adhyaksa Banten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84848" y="4700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12.2B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44568" y="4993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— Plumbing, Fire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44568" y="5267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(Persero)  ·  2023–2024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74736" y="460916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74736" y="460916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57616" y="4700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Meruya BPI Residence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597896" y="4700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11.5B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357616" y="4993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Tower — Plumbing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357616" y="5267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Pulauintan  ·  2021–2022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8640" y="557644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" y="557644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5667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TCD TMII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971800" y="5667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11.4B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31520" y="5960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Facility — Plumbing, Fire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31520" y="62348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(Persero)  ·  2024–2025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361688" y="557644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1688" y="557644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44568" y="5667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KCBN Jambi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784848" y="5667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10.95B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544568" y="5960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— Electrical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544568" y="62348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(Persero)  ·  2024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174736" y="5576440"/>
            <a:ext cx="3703320" cy="987552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74736" y="5576440"/>
            <a:ext cx="45720" cy="9875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57616" y="56678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BNI PIK 2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0597896" y="5667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IDR 7.5B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357616" y="5960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Branch — Plumbing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357616" y="62348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(Persero)  ·  2024–2025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 S E T   C L A S S   ·   O F F I C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Towers, Bank HQs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Corporate Buildings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9748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r>
              <a:rPr lang="en-US" sz="1400" b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Tower Jakarta </a:t>
            </a: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(major financial institution, PT. PP main contractor) to </a:t>
            </a:r>
            <a:r>
              <a:rPr lang="en-US" sz="1400" b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 PIK 2 </a:t>
            </a: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(bank branch tower) to our own </a:t>
            </a:r>
            <a:r>
              <a:rPr lang="en-US" sz="1400" b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6-floor IBK Head Office </a:t>
            </a: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Pluit — we deliver MEP and full-scope commercial office work to the standard financial tenants demand.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7132320" cy="868680"/>
          </a:xfrm>
          <a:prstGeom prst="rect">
            <a:avLst/>
          </a:prstGeom>
          <a:solidFill>
            <a:srgbClr val="0E2038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45262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BSI Tower Jakarta  ·  Office Tower  ·  IDR 14.5B  ·  Plumbing + Fire Suppression  ·  PT. PP (Persero)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1997480"/>
            <a:ext cx="3703320" cy="9144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1997480"/>
            <a:ext cx="54864" cy="91440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20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High-Rise MEP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236324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plumbing, pressurised fire mains, emergency power distribution, VRV and central HVAC systems.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3021608"/>
            <a:ext cx="3703320" cy="9144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021608"/>
            <a:ext cx="54864" cy="91440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31130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Tenant-Ready Standard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338736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Build-out specifications aligned to financial and corporate tenant requirements — from Grade A finish quality to after-hours HVAC zoning.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4045736"/>
            <a:ext cx="3703320" cy="9144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4045736"/>
            <a:ext cx="54864" cy="91440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1371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 Code Compliance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441149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sprinkler, hydrant, fire pump, and detection systems — delivered to Indonesian code with full test and commissioning documentation.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5069864"/>
            <a:ext cx="3703320" cy="9144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5069864"/>
            <a:ext cx="54864" cy="91440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51613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Owner-Occupier Proof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543562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 Head Office Pluit is our own 6-floor building — built by our team, on our budget, on our own schedule.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BSI Tower Jakarta · BNI PIK 2 · Kejaksaan Agung · IBK Head Office Pluit (6 Floors)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 S E T   C L A S S   ·   H O S P I T A L I T 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Brand Hotels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Hospitality Facilities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IBK's delivery on </a:t>
            </a:r>
            <a:r>
              <a:rPr lang="en-US" sz="1400" b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Hilton Bandung — IDR 43.3B, </a:t>
            </a: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fire suppression, electrical, and HVAC — is our proof of capability to meet </a:t>
            </a:r>
            <a:r>
              <a:rPr lang="en-US" sz="1400" b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hotel brand standards. </a:t>
            </a: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Hilton brand approval opens the door to Marriott, IHG, and Accor portfolios across Indonesia.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11109960" cy="868680"/>
          </a:xfrm>
          <a:prstGeom prst="rect">
            <a:avLst/>
          </a:prstGeom>
          <a:solidFill>
            <a:srgbClr val="0E2038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389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REFERENCE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4617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Hilton Bandung  ·  Hotel  ·  IDR 43.3B  ·  Fire Suppression + Electrical + HVAC  ·  2025–2026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394960"/>
            <a:ext cx="3703320" cy="86868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5394960"/>
            <a:ext cx="54864" cy="86868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4864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Brand-Standard Fire Systems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Sprinkler, hydrant, fire pump and detection engineered to Hilton brand specifications and Indonesian fire code — dual compliance in a single system.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5394960"/>
            <a:ext cx="3703320" cy="86868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5394960"/>
            <a:ext cx="54864" cy="86868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54864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High-Density HVAC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57607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Guestroom, back-of-house and public-space HVAC zoning engineered for 24/7 hotel occupancy and rapid thermal response.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5394960"/>
            <a:ext cx="3703320" cy="86868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5394960"/>
            <a:ext cx="54864" cy="86868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54864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Commercial-Grade Electrical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57607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distribution, emergency power integration, and guestroom lighting control systems specified to hospitality operating standards.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 S E T   C L A S S   ·   C R I T I C A L   F A C I L I T I E 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Centres, Hospitals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Critical Infrastructure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hyperscale data centres (</a:t>
            </a:r>
            <a:r>
              <a:rPr lang="en-US" sz="1400" b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75.5B combined</a:t>
            </a: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two full hospital MEP packages — IBK has delivered on the most demanding technical environments in Indonesia. These are buildings where downtime is measured in minutes and where system failure is not an 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440680" cy="868680"/>
          </a:xfrm>
          <a:prstGeom prst="rect">
            <a:avLst/>
          </a:prstGeom>
          <a:solidFill>
            <a:srgbClr val="0E2038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REFERENCE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HDC Hyperscale Cikarang  ·  IDR 40B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installation  ·  20,057 m²  ·  PT. PP / APG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4160520"/>
            <a:ext cx="5440680" cy="868680"/>
          </a:xfrm>
          <a:prstGeom prst="rect">
            <a:avLst/>
          </a:prstGeom>
          <a:solidFill>
            <a:srgbClr val="0E2038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REFERENCE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46520" y="4480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Rengasdengklok + RS Adhyaksa Banten  ·  IDR 26.1B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47548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+ Fire + Electrical  ·  Back-to-back, 2023–2025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3703320" cy="10515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212080"/>
            <a:ext cx="54864" cy="10515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3035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Centre Mechanical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6235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cooling, chilled water, and redundant HVAC systems for hyperscale white space and control buildings. Delivered on SCBD and HDC Cikarang.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5212080"/>
            <a:ext cx="3703320" cy="10515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5212080"/>
            <a:ext cx="54864" cy="10515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53035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Hospital-Grade MEP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56235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gas, clean water, drainage, fire suppression, electrical and HVAC — all to healthcare standards. Two hospitals delivered back-to-back.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5212080"/>
            <a:ext cx="3703320" cy="105156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5212080"/>
            <a:ext cx="54864" cy="105156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53035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&amp; Institutional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56235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Kejaksaan Agung HQ (Attorney General's Office), TCD TMII, KCBN Jambi — proven track record on public sector projects requiring strict documentation and compliance.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 S E T   C L A S S   ·   M I X E D - U S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Apartment Towers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Mixed-Use Developments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towers and mixed-use demand coordination across </a:t>
            </a:r>
            <a:r>
              <a:rPr lang="en-US" sz="1400" b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plumbing, fire, HVAC, electrical and low-current systems </a:t>
            </a: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tight schedules, across many floors, with strict tenant-handover dates. IBK has delivered this scope for Tier-1 main contractors on projects up to IDR 36 billion.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109960" cy="868680"/>
          </a:xfrm>
          <a:prstGeom prst="rect">
            <a:avLst/>
          </a:prstGeom>
          <a:solidFill>
            <a:srgbClr val="0E2038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297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REFERENCE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Vasanta Innopark  ·  Apartment  ·  IDR 36B  ·  Plumbing + Sprinkler + HVAC  ·  50,000 m²  ·  PT. PP (Persero)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3703320" cy="9144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5303520"/>
            <a:ext cx="54864" cy="91440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3949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High-Rise Plumbing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7150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pressurised water, bulk drainage risers, and specialist kitchen waste stacks designed for long-term apartment operation.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5303520"/>
            <a:ext cx="3703320" cy="9144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5303520"/>
            <a:ext cx="54864" cy="91440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53949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Residential Fire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57150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sprinkler, hydrant, and fire pump systems across apartment towers up to IDR 36B. Proven on Vasanta, Sudimara, BPI Residence.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5303520"/>
            <a:ext cx="3703320" cy="9144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5303520"/>
            <a:ext cx="54864" cy="91440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53949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Tenant-Ready HVAC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57150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VRV and central systems sized for apartment occupancy, with unit-level metering and silent-operation specifications.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G I N E E R I N G   P H I L O S O P H 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Engineering Pillars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Protect Cost &amp; Schedule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703320" cy="132588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54864" cy="132588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688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Design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architectural and MEP drawings reviewed together before procurement. Clashes and cost traps identified on paper — not at pour, not at first fix, not at ceiling close-up.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2331720"/>
            <a:ext cx="3703320" cy="132588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2331720"/>
            <a:ext cx="54864" cy="132588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4688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Constructability First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tested against how it will actually be built — formwork cycles, crane strategy, site access, trade sequencing. Elegant drawings that cannot be built on schedule are not elegant.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2331720"/>
            <a:ext cx="3703320" cy="132588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331720"/>
            <a:ext cx="54864" cy="132588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4688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7889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scope challenged for cost — without compromising code, brand standard or delivery date. Alternatives modelled and priced; the owner chooses with numbers, not assumptions.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703320" cy="132588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94760"/>
            <a:ext cx="54864" cy="132588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319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Procurement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300B+ delivered gives us pricing leverage with tier-one suppliers — Schneider, Chint, PPR Toro, Rucika, Kabelmetal. Savings flow to the BoQ, not to margin.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794760"/>
            <a:ext cx="3703320" cy="132588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3794760"/>
            <a:ext cx="54864" cy="132588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9319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Right-Sized Systems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42519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members, electrical loads, HVAC plant and pumps sized to actual demand — not the safety factor on top of a safety factor. Less material, lower cost, same performance.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794760"/>
            <a:ext cx="3703320" cy="132588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794760"/>
            <a:ext cx="54864" cy="1325880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9319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Commissioning Discipline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42519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balancing and handover documents produced alongside construction — not at the end. Hilton, code and main contractor sign-offs ready on the date committed, not weeks after.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394960"/>
            <a:ext cx="11109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discipline is not a cost centre — it is what keeps the project on budget and the handover on the date we committed to.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A L U E   E N G I N E E R I N 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Engineer Out Cost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Protect the Programme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1109960" cy="457200"/>
          </a:xfrm>
          <a:prstGeom prst="rect">
            <a:avLst/>
          </a:prstGeom>
          <a:solidFill>
            <a:srgbClr val="0E2038"/>
          </a:solidFill>
          <a:ln w="12700">
            <a:solidFill>
              <a:srgbClr val="0E2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816352"/>
            <a:ext cx="11109960" cy="2743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AREA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1752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1208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109960" cy="54864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53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9535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Load-optimised frame design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12080" y="2953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concrete, less rebar, smaller BoQ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03920" y="29535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formwork cycles, floor per week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502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Facade &amp; Envelope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35021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facade-structure coordination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0" y="350215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shop-drawing revisions, no rework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03920" y="35021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closes on the critical-path date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109960" cy="54864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507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MEP Plant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40507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to actual demand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4050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chillers, panels, pumps, cables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03920" y="40507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lead times, earlier install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5994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Fit-out &amp; Finishes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17520" y="45994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Prefab and modular where it pays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12080" y="45994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labour cheaper than site labour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03920" y="45994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weeks compressed into days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109960" cy="54864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48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17520" y="51480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pricing from 20+ projects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0" y="51480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supplier discounts passed through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03920" y="514807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stock, no procurement delays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696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017520" y="56967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T&amp;C built alongside construction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56967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end-of-job rework, no retention loss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03920" y="56967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Sign-offs ready on handover date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217920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D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levers are applied across every commercial scope we deliver — that is how we protect your budget and your opening date.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W   W E   E N G A G 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IBK Delivers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Projects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 scales to the contract structure. Whether you are a developer procuring a complete building or a Tier-1 main contractor packaging MEP to a trusted specialist, we have delivered both at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5440680" cy="27432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566160"/>
            <a:ext cx="5440680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794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Design-Build  ·  Full Scope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and owners. One contract covering structure, architecture, full MEP, material supply and commissioning. Single point of accountability — one budget, one programme, one team responsible for delivery.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58521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 Hilton Bandung · Rumah Lotus · Subang Hat Factory · IBK Head Office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3566160"/>
            <a:ext cx="5440680" cy="2743200"/>
          </a:xfrm>
          <a:prstGeom prst="rect">
            <a:avLst/>
          </a:prstGeom>
          <a:solidFill>
            <a:srgbClr val="122944"/>
          </a:solidFill>
          <a:ln w="12700">
            <a:solidFill>
              <a:srgbClr val="1229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3566160"/>
            <a:ext cx="5440680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794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B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537960" y="4434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MEP Specialist  ·  Subcontract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49834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Tier-1 main contractors. Plumbing, fire, HVAC, electrical or full MEP package — delivered as a specialist subcontractor with a 10-year track record of on-budget, on-programme performance for PT. PP, Pulauintan and APG.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58521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D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 BSI Tower · HDC Cikarang · SCBD DC · Vasanta · Kejaksaan Agung · TCD TMII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INDOBANGUN BERJAYA KONSTRUKSI  |  COMMERCIAL PROFILE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B66A"/>
          </a:solidFill>
          <a:ln w="12700">
            <a:solidFill>
              <a:srgbClr val="D4B6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E T ' S   B U I L D   T O G E T H E 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deliver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next commercial project.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17520" y="3520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Full-Scope Design-Build  ·  MEP Specialist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867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17520" y="386791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· Hospitality · Data Centre · Healthcare · Mixed-Use · Industrial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0" y="421538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 ·  Java  ·  Nationwide for the right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562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CONTRACTOR PARTNERS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17520" y="456285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PP (Persero)  ·  PT. Pulauintan  ·  APG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910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49103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Design Studio — Exclusive Architecture &amp; Interior Partner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486400"/>
            <a:ext cx="10881360" cy="0"/>
          </a:xfrm>
          <a:prstGeom prst="line">
            <a:avLst/>
          </a:prstGeom>
          <a:noFill/>
          <a:ln w="12700">
            <a:solidFill>
              <a:srgbClr val="D4B6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669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dixon@ibkonstruksi.com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5669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34840" y="5943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+62 821 1095 2505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5669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5943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wa.me/6282110952505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922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B9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@ibkonstruksi  ·  PT. INDOBANGUN BERJAYA KONSTRUKSI  ·  EST. 2015  ·  JAKARTA, INDONESIA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336441-CF56-4CF8-849E-2EC32E660C2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4f15403-dd44-4803-bd47-af66d05ab57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2602</Words>
  <Application>Microsoft Office PowerPoint</Application>
  <PresentationFormat>Widescreen</PresentationFormat>
  <Paragraphs>275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PT. Indobangun Berjaya Konstruksi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IBK Commercial Construction Profile 2026</dc:title>
  <dc:subject>PptxGenJS Presentation</dc:subject>
  <dc:creator>PptxGenJS</dc:creator>
  <cp:lastModifiedBy>Dixon Lesley</cp:lastModifiedBy>
  <cp:revision>2</cp:revision>
  <dcterms:created xsi:type="dcterms:W3CDTF">2026-04-17T00:13:16Z</dcterms:created>
  <dcterms:modified xsi:type="dcterms:W3CDTF">2026-04-17T04:11:53Z</dcterms:modified>
</cp:coreProperties>
</file>